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63afc224-b056-cc4b-9d4d-2ef610aa84a6}">
          <p14:sldIdLst>
            <p14:sldId id="256"/>
            <p14:sldId id="257"/>
            <p14:sldId id="258"/>
          </p14:sldIdLst>
        </p14:section>
        <p14:section name="Marco teórico" id="{64e89a3e-423b-e41b-7f58-4bd5bf6c4074}">
          <p14:sldIdLst>
            <p14:sldId id="259"/>
            <p14:sldId id="260"/>
            <p14:sldId id="261"/>
            <p14:sldId id="262"/>
          </p14:sldIdLst>
        </p14:section>
        <p14:section name="Diseño del prototipo" id="{97131aa5-622f-1d0b-7573-dbf5124f93ae}">
          <p14:sldIdLst>
            <p14:sldId id="263"/>
            <p14:sldId id="264"/>
            <p14:sldId id="265"/>
          </p14:sldIdLst>
        </p14:section>
        <p14:section name="Hardware de control" id="{cdd8fc5e-4db9-3480-4d6e-7990d7f53b31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Software y despliegue" id="{53897f0c-5257-d961-5e31-6f13f3335427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Resultados y conclusiones" id="{bdb05009-0a70-0292-99e6-23aefbbf1a52}">
          <p14:sldIdLst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1D1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D1D1D"/>
                </a:solidFill>
                <a:latin typeface="+mn-lt"/>
              </a:rPr>
              <a:t>Calibración: lectura raw (ADC) vs. humedad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Humedad (%)</c:v>
                </c:pt>
              </c:strCache>
            </c:strRef>
          </c:tx>
          <c:spPr>
            <a:solidFill>
              <a:srgbClr val="D38129"/>
            </a:solidFill>
            <a:ln w="38100" cap="flat">
              <a:solidFill>
                <a:srgbClr val="D3812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1D1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38129"/>
              </a:solidFill>
              <a:ln w="9525" cap="flat">
                <a:solidFill>
                  <a:srgbClr val="D3812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250</c:v>
                  </c:pt>
                  <c:pt idx="1">
                    <c:v>200</c:v>
                  </c:pt>
                  <c:pt idx="2">
                    <c:v>150</c:v>
                  </c:pt>
                  <c:pt idx="3">
                    <c:v>100</c:v>
                  </c:pt>
                  <c:pt idx="4">
                    <c:v>60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26.3</c:v>
                </c:pt>
                <c:pt idx="2">
                  <c:v>52.6</c:v>
                </c:pt>
                <c:pt idx="3">
                  <c:v>78.9</c:v>
                </c:pt>
                <c:pt idx="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D1D1D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1D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FE4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1D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1D1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D1D1D"/>
                </a:solidFill>
                <a:latin typeface="+mn-lt"/>
              </a:rPr>
              <a:t>Caudal (L/h)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L/h</c:v>
                </c:pt>
              </c:strCache>
            </c:strRef>
          </c:tx>
          <c:spPr>
            <a:solidFill>
              <a:srgbClr val="1D40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D1D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03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3812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Capacidad de la bomba</c:v>
                  </c:pt>
                  <c:pt idx="1">
                    <c:v>Demanda máxima (4 goteros)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228</c:v>
                </c:pt>
                <c:pt idx="1">
                  <c:v>320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D1D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1D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12700" cap="flat">
              <a:solidFill>
                <a:srgbClr val="EFE4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1D1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(≈1 min) Presentación de ambos autores y del proyecto: un prototipo físico real, ya construido y funcionando, de huerta vertical automatizada en interior.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(≈1 min) Total estimado ≈ 38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 min) Plantear el problema, el objetivo y las tres cifras de alcance. Mencionar que el prototipo ya está construido y en funcionamiento.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Partir de la planta: qué necesita para crecer. Esto justifica después qué se mide y qué se controla.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La fórmula del DLI es la base del algoritmo de iluminación. PPFD es instantáneo; el DLI es la dosis diaria que importa para el cultivo. Resumir sustrato vs. hidroponía y por qué se eligió control on/off con histéresis.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Comparar ambos cultivos. La diferencia clave para el diseño es el PPFD y el DLI objetivo (15 vs. 14), y que la espinaca prefiere temperaturas más bajas y tarda más en cosecharse.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Puente entre teoría y diseño: cada variable, su objetivo, el sensor, el actuador y la estrategia. Se desarrolla en detalle en la parte de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Flujo de izquierda a derecha: sensores → Raspberry Pi → potencia → actuadores. Abajo, la telemetría. Destacar que el higrómetro es analógico y necesita un ADC externo porque la Raspberry no tiene entradas analógicas.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(≈1,5 min) Mostrar la evolución: de un primer armado de prueba a la estructura final con macetas impermeabilizadas, drenaje y piezas 3D propias.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Cada componente se eligió con su datasheet. El sensor de luz y el ADC se comunican por I²C; el DHT22 es digital; el higrómetro es la única señal analógica.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 min) Punto fuerte analógico: el sensor capacitivo entrega una tensión que baja al aumentar la humedad; el ADC de 8 bits la digitaliza. Calibración de dos puntos: seco = 250, mojado = 60. El umbral raw = 150 equivale a 52,6 %: (250−150)/(250−60). Después de regar se recupera 80–90 %.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Cada actuador se maneja desde un GPIO a través de un relé. Se usaron SSR y electromecánicos según la carga. Más adelante, el software agrega un enclavamiento para no activar dos riegos a 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El diseño geométrico define a qué altura el haz de 120° cubre la maceta. La calibración con el BH1750 a 27 cm midió 6500 lux; de ahí salen los factores que convierten lectura en aporte al DLI.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Es un control anticipativo, no reactivo: en lugar de esperar a pasarse del DLI, se pregunta si dejar el foco prendido el resto de la ventana horaria lo excedería. El pseudocódigo es ilustrativo.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Resultado del dimensionamiento: la demanda combinada máxima de los goteros supera a la capacidad de la bomba (3,8 L/min = 228 L/h), por lo que la bomba termina siendo el límite real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El algoritmo es deliberadamente simple: si el valor raw supera 150 (suelo más seco que 52,6 %), se riega 60 s. El valor de 60 s es empírico; entrega entre 0,67 y 3,8 L según la calibración de los goteros.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Ventilador de 12 V, 0,6 A, 2400 RPM, 80 CFM ≈ 135,9 m³/h. Renueva el volumen completo en unos 8,6 s, 14 veces durante el bloque de 120 s del algoritmo. La temperatura reacciona al instante; la humedad se promedia para evitar falsos disparos.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Seis módulos con dependencias en una sola dirección. La interfaz web está totalmente desacoplada del control: si se cae la web, el control sigue funcionando, y viceversa. Referencia teórica: modularidad de Parnas (1972).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Dos decisiones de diseño: separar configuración de código y encapsular el hardware. Ambas facilitan el mantenimiento y la calibración del prototipo.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main.py orquesta todo el ciclo. El enclavamiento mutuo es la respuesta de software al hallazgo de hardware: como la bomba es el límite, se riega una maceta por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Tres servicios independientes. Si el equipo se reinicia o un servicio falla, systemd lo levanta solo. El CSV local asegura que no se pierdan datos sin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(≈1,5 min) Interfaz de control: formulario que modifica config.toml. Tras guardar, el servidor redirige a la página principal para evitar reenvíos accidentales y muestra una confirmación. Figura 7.3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(≈1,5 min) Interfaz de monitoreo: gráficos históricos embebidos, vistos desde el navegador de una computadora a través del túnel ngrok. Figuras 7.4 y 7.5 del informe. Si es posible, mostrar una demo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 min) Cifras tomadas del informe. Si hay tiempo, comentar que el consumo de potencia pico es el dato de la Parte III ya calculado. Agregar aquí resultados de cosecha o ensayos cuando estén redactados.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(≈3 min) Cerrar con los logros y con las mejoras que surgen de lo aprendido. Los puntos de trabajo futuro son propuestas: ajustar a lo que dice la Parte III del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ronda de preguntas. Tener a mano: calibración del higrómetro, cálculo del caudal de ventilación y el diagrama de módulos.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1D4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Logos UNC y FCEFy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12648"/>
            <a:ext cx="3931920" cy="789127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1828800"/>
            <a:ext cx="69494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434340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EFE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pic>
        <p:nvPicPr>
          <p:cNvPr id="3" name="Image 0" descr="Logos UNC y FCEFy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1554480" cy="31181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28600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Proyecto Integrador · Ingeniería Electrónica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182880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Prototipo de Monitoreo y Control de las Condiciones de Cultivos para Granjas Inteligentes Urbanas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4343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Proyecto Integrador de Ingeniería Electrónica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Beierbach Rodríguez, Alejo Adrián · Ramírez, Valentín José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Facultad de Ciencias Exactas, Físicas y Naturales · Universidad Nacional de Córdoba</a:t>
            </a:r>
            <a:endParaRPr lang="en-US" sz="1500" dirty="0"/>
          </a:p>
        </p:txBody>
      </p:sp>
      <p:pic>
        <p:nvPicPr>
          <p:cNvPr id="4" name="img-proto_fin" descr="proto_f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548640"/>
            <a:ext cx="3474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Recorrido de la presentación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Contexto y objetivo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55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9659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Plantas, necesidades y variables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55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69164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9659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Diseño e instrumentación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355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2519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Hardware de control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641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397764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42519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Software y despliegue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641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8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3977640"/>
            <a:ext cx="3520440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21040" y="42519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5029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Resultados y conclusiones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56418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Contexto y objetivo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30936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problema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Cultivar en interior exige controlar luz, agua, temperatura y humedad a la vez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Hacerlo a mano es inconsistente y demanda presencia constante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 objetivo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4340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Construir y validar un prototipo de huerta vertical que monitorea y controla sus condiciones de forma autónoma, con acceso remoto.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78040" y="1554480"/>
            <a:ext cx="446227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0" y="169164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 cultivos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377440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rúcula y espinaca, una maceta cada una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3200400"/>
            <a:ext cx="446227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315200" y="333756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 lazos de control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4023360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iluminación (DLI), riego y ventilación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78040" y="4846320"/>
            <a:ext cx="446227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0" y="498348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 módulos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5669280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 software en Python, desplegados como servicios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Qué necesita una planta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93976" cy="3566160"/>
          </a:xfrm>
          <a:prstGeom prst="roundRect">
            <a:avLst>
              <a:gd name="adj" fmla="val 43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52144" y="1783080"/>
            <a:ext cx="886968" cy="8869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Lu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029968"/>
            <a:ext cx="393192" cy="3931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8803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Luz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429000"/>
            <a:ext cx="1819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12–14 h al día, en la dosis justa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98064" y="1554480"/>
            <a:ext cx="2093976" cy="3566160"/>
          </a:xfrm>
          <a:prstGeom prst="roundRect">
            <a:avLst>
              <a:gd name="adj" fmla="val 43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01568" y="1783080"/>
            <a:ext cx="886968" cy="8869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Agu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029968"/>
            <a:ext cx="393192" cy="3931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35224" y="28803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Agua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35224" y="3429000"/>
            <a:ext cx="1819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sustrato húmedo, sin encharcar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47488" y="1554480"/>
            <a:ext cx="2093976" cy="3566160"/>
          </a:xfrm>
          <a:prstGeom prst="roundRect">
            <a:avLst>
              <a:gd name="adj" fmla="val 43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50992" y="1783080"/>
            <a:ext cx="886968" cy="8869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2" descr="Temperatu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029968"/>
            <a:ext cx="393192" cy="39319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84648" y="28803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Temperatura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184648" y="3429000"/>
            <a:ext cx="1819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rúcula 24 °C; espinaca ≤ 25 °C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296912" y="1554480"/>
            <a:ext cx="2093976" cy="3566160"/>
          </a:xfrm>
          <a:prstGeom prst="roundRect">
            <a:avLst>
              <a:gd name="adj" fmla="val 43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900416" y="1783080"/>
            <a:ext cx="886968" cy="8869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Humedad del ai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029968"/>
            <a:ext cx="393192" cy="3931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34072" y="28803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Humedad del aire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34072" y="3429000"/>
            <a:ext cx="1819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excesos que favorezcan hongos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546336" y="1554480"/>
            <a:ext cx="2093976" cy="3566160"/>
          </a:xfrm>
          <a:prstGeom prst="roundRect">
            <a:avLst>
              <a:gd name="adj" fmla="val 43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149840" y="1783080"/>
            <a:ext cx="886968" cy="88696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mage 4" descr="Aire renova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2029968"/>
            <a:ext cx="393192" cy="39319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83496" y="28803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Aire renovado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683496" y="3429000"/>
            <a:ext cx="1819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ventilación y circulación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Cada necesidad se traduce en una variable que se puede medir y controlar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Fundamentos: luz, sustrato y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La planta no “ve” lux: acumula fotones útiles durante el día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DLI = PPFD × t × 3600 / 10⁶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PPFD en µmol·m⁻²·s⁻¹ (luz PAR instantánea) · t en horas · DLI en mol·m⁻²·día⁻¹ (dosis diaria acumulada)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36118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Fotosíntesis y PAR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2628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Rúcula y espinaca son plantas C3; la banda útil es 400–700 nm.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3840480"/>
            <a:ext cx="36118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2628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Sustrato vs. hidroponía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52628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sustrato retiene agua: se controla la humedad, no el caudal continuo.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3840480"/>
            <a:ext cx="3611880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on/off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52628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Histéresis y filtro de media móvil evitan oscilaciones y falsos disparos.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Dos cultivos, dos requerimientos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3367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Rúcula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Espinaca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Temperatura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ideal 24 °C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favorecida por frío (≤ 25 °C)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Fotoperíodo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12–14 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12–14 h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PPFD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≈ 230 µmol·m⁻²·s⁻¹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100–150 µmol·m⁻²·s⁻¹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DLI objetivo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15 mol·m⁻²·día⁻¹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 mol·m⁻²·día⁻¹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Cosecha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≈ 28 días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≈ 45 días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Requerimientos distintos ⇒ cada maceta se controla con su propio objetivo de DLI y su propia lectura de humedad.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Variables a controlar y cómo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1737360"/>
                <a:gridCol w="2587752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Objetivo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 mide con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 actúa con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Estrategia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Luz (DLI)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14–15 mol·m⁻²·día⁻¹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BH1750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Panel LED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Anticipativa por DLI acumulado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Humedad del sustrato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52,6 %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Higrómetro + PCF8591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Bomba y goteros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Umbral simple, riego de 60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Temperatura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≤ 30 °C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DHT22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Ventilador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Reacción inmediata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Humedad ambiente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≤ 80 % HR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DHT22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Ventilador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Promedio de 5 muestras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Tres actuadores (luz, riego y ventilación) cubren las cuatro variables, con control on/off.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Arquitectura del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10896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5544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DHT22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temperatura y humedad ambiente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10896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26974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BH1750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iluminancia · bus I²C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310896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" y="38404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Higrómetro capacitivo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→ PCF8591 (ADC 8 bits, I²C)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20040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90288" y="1554480"/>
            <a:ext cx="29809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Raspberry Pi 4 B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Python · control on/off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3 servicios systemd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0" y="1554480"/>
            <a:ext cx="3136392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13648" y="1554480"/>
            <a:ext cx="2916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Etapa de potencia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relés SSR y electromecánicos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3108960"/>
            <a:ext cx="3136392" cy="1645920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13648" y="3108960"/>
            <a:ext cx="29169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Actuadores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panel LED · bomba · ventilador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5212080"/>
            <a:ext cx="715975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90288" y="5212080"/>
            <a:ext cx="6940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Telemetría y acceso remoto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ThingSpeak · dashboard Flask · ngrok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0" y="2011680"/>
            <a:ext cx="8229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3154680"/>
            <a:ext cx="8229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57600" y="4297680"/>
            <a:ext cx="8229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8229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0" y="2651760"/>
            <a:ext cx="0" cy="4572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4754880"/>
            <a:ext cx="0" cy="45720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Del prototipo inicial al final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g-proto_ini" descr="proto_in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474720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669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Prototipo inicial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389120" y="1554480"/>
            <a:ext cx="3657600" cy="45720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-proto_fin" descr="proto_f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45920"/>
            <a:ext cx="3474720" cy="3931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80560" y="5669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Prototipo final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229600" y="1554480"/>
            <a:ext cx="3410712" cy="4572000"/>
          </a:xfrm>
          <a:prstGeom prst="roundRect">
            <a:avLst>
              <a:gd name="adj" fmla="val 26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458200" y="1737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 que se resolvió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2286000"/>
            <a:ext cx="2971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Impermeabilización y drenaje de las macetas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Arquitectura modular por niveles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Piezas impresas en 3D (distribuidores, soportes)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Selección de componentes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35661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g-rpi" descr="r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246888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Raspberry Pi 4 B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unidad de control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64992" y="1554480"/>
            <a:ext cx="2651760" cy="35661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g-dht" descr="d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645920"/>
            <a:ext cx="2468880" cy="2194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02152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DHT22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502152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temperatura y HR del aire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81344" y="1554480"/>
            <a:ext cx="2651760" cy="35661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g-bh" descr="b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45920"/>
            <a:ext cx="2468880" cy="21945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18504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BH1750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18504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luz, salida digital I²C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997696" y="1554480"/>
            <a:ext cx="2651760" cy="35661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g-hig" descr="hi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1645920"/>
            <a:ext cx="2468880" cy="21945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34856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Higrómetro capacitivo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9134856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humedad del sustrato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También: PCF8591 (ADC) · relés SSR y electromecánicos · panel LED · bomba · ventilador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Medición de humedad del sustrato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457200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g-hig" descr="hi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2468880" cy="2011680"/>
          </a:xfrm>
          <a:prstGeom prst="rect">
            <a:avLst/>
          </a:prstGeom>
        </p:spPr>
      </p:pic>
      <p:pic>
        <p:nvPicPr>
          <p:cNvPr id="5" name="img-soil" descr="so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2468880" cy="1920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Sensor capacitivo en el sustrato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3383280" y="1554480"/>
            <a:ext cx="512064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3474720" y="1645920"/>
          <a:ext cx="49377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4"/>
          <p:cNvSpPr/>
          <p:nvPr/>
        </p:nvSpPr>
        <p:spPr>
          <a:xfrm>
            <a:off x="8686800" y="1554480"/>
            <a:ext cx="295351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8823960" y="16916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raw 150</a:t>
            </a:r>
            <a:endParaRPr lang="en-US" sz="2600" dirty="0"/>
          </a:p>
        </p:txBody>
      </p:sp>
      <p:sp>
        <p:nvSpPr>
          <p:cNvPr id="11" name="Text 6"/>
          <p:cNvSpPr txBox="1"/>
          <p:nvPr/>
        </p:nvSpPr>
        <p:spPr>
          <a:xfrm>
            <a:off x="8823960" y="2377440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≈ 52,6 % · umbral de riego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686800" y="3200400"/>
            <a:ext cx="295351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8823960" y="333756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250 → 60</a:t>
            </a:r>
            <a:endParaRPr lang="en-US" sz="2600" dirty="0"/>
          </a:p>
        </p:txBody>
      </p:sp>
      <p:sp>
        <p:nvSpPr>
          <p:cNvPr id="14" name="Text 9"/>
          <p:cNvSpPr txBox="1"/>
          <p:nvPr/>
        </p:nvSpPr>
        <p:spPr>
          <a:xfrm>
            <a:off x="8823960" y="4023360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raw seco (0 %) a raw mojado (100 %)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8686800" y="484632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Salida analógica del sensor → PCF8591 (8 bits, I²C) → Raspberry Pi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Etapa de potencia y actuadores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329184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g-led" descr="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246888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Panel LED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Practiled 50 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64992" y="1554480"/>
            <a:ext cx="2651760" cy="329184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g-bomba" descr="bomb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645920"/>
            <a:ext cx="2468880" cy="1920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502152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Bomba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502152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Kushiro · 2,5 bar · 3,8 L/min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81344" y="1554480"/>
            <a:ext cx="2651760" cy="329184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g-valv" descr="val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45920"/>
            <a:ext cx="2468880" cy="1920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18504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Electroválvula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18504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corte de línea de riego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997696" y="1554480"/>
            <a:ext cx="2651760" cy="329184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g-fan" descr="f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1645920"/>
            <a:ext cx="2468880" cy="19202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34856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Ventilador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9134856" y="4069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12 V · 0,6 A · 80 CFM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822960" y="5120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2"/>
                </a:solidFill>
              </a:rPr>
              <a:t>Los GPIO de 3,3 V no manejan carga directamente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Relés SSR y electromecánicos separan la lógica de la potencia y conmutan cada actuador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Iluminación: geometría y calibración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66160" cy="457200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g-led" descr="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38328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89120" y="1554480"/>
            <a:ext cx="233172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526280" y="1691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120°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526280" y="2377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ángulo del panel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03720" y="1554480"/>
            <a:ext cx="233172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040880" y="1691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20–30 cm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2377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altura de instalación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418320" y="1554480"/>
            <a:ext cx="222199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555480" y="1691640"/>
            <a:ext cx="1947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6500 lux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555480" y="2377440"/>
            <a:ext cx="1947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BH1750 a 27 cm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89120" y="3200400"/>
            <a:ext cx="7251192" cy="29260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617720" y="3429000"/>
            <a:ext cx="6766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Panel LED de 17 × 11,3 cm; dos focos por maceta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Huella mínima de cobertura: 86,3 × 80,6 cm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Factor de luminaria F_L = 0,0887 y factor ambiente = 0,0185, obtenidos de la calibración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Control anticipativo del DLI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2900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DLI acumulado en el día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606040"/>
            <a:ext cx="393192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70832" y="1554480"/>
            <a:ext cx="342900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7373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Anticipar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aporte si el foco sigue prendido el resto de la ventana horaria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99832" y="2606040"/>
            <a:ext cx="393192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93024" y="1554480"/>
            <a:ext cx="3429000" cy="2103120"/>
          </a:xfrm>
          <a:prstGeom prst="roundRect">
            <a:avLst>
              <a:gd name="adj" fmla="val 434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1624" y="17373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21624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53144" y="17373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Decidir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21624" y="2514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encender solo si no se excede el DLI objetivo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6766560" cy="219456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93192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DLI_acum + aporte(resto_ventana) &lt;= DLI_obj: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foco = 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foco = OFF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89520" y="39319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26680" y="4069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4754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DLI objetivo rúcula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20072" y="3931920"/>
            <a:ext cx="192024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857232" y="4069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857232" y="4754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DLI objetivo espinaca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548640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mol·m⁻²·día⁻¹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Riego: dimensionamiento hidráulico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017520" cy="4572000"/>
          </a:xfrm>
          <a:prstGeom prst="roundRect">
            <a:avLst>
              <a:gd name="adj" fmla="val 30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g-gote" descr="g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283464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715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Distribución a los goteros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749040" y="1554480"/>
            <a:ext cx="4480560" cy="4572000"/>
          </a:xfrm>
          <a:prstGeom prst="roundRect">
            <a:avLst>
              <a:gd name="adj" fmla="val 204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3840480" y="1645920"/>
          <a:ext cx="4297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8412480" y="1554480"/>
            <a:ext cx="3227832" cy="4572000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64108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Hallazgo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41080" y="219456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goteros por maceta (10–80 L/h c/u) sobre una sola línea. Al máximo piden 320 L/h, pero la bomba entrega 228 L/h.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641080" y="43891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La bomba, no los goteros, fija el caudal real.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Riego: algoritmo de umbral simple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73736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Leer higrómetro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valor raw por maceta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0" y="17373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767328" y="1737360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¿raw &gt; 150?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humedad &lt; 52,6 %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1737360"/>
            <a:ext cx="228600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76288" y="1737360"/>
            <a:ext cx="20665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Regar 60 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valor empírico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509760" y="1737360"/>
            <a:ext cx="213055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19488" y="1737360"/>
            <a:ext cx="1911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Esperar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 volver a medir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45720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2423160"/>
            <a:ext cx="45720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52560" y="2423160"/>
            <a:ext cx="45720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3566160"/>
            <a:ext cx="3566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3703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80–90 %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humedad que se recupera tras el riego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3566160"/>
            <a:ext cx="3566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34840" y="37033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0,67–3,8 L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entregados en 60 s, según calibración de goteros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0" y="3566160"/>
            <a:ext cx="359359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183880" y="370332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1,3–7,6 mm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43891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lámina de agua equivalente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49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 lámina varía con la calibración de los goteros: el umbral decide cuándo, la duración fija cuánto.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Ventilación: caudal y umbrales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00400" cy="45720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g-fan_in" descr="fan_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01752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715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Ventilador montado en el prototipo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023360" y="1554480"/>
            <a:ext cx="2423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160520" y="1691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0,325 m³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aire a renovar (65 × 50 × 100 cm)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0" y="1554480"/>
            <a:ext cx="24231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720840" y="1691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8,6 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renueva todo el aire (≈ 135,9 m³/h)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0" y="1554480"/>
            <a:ext cx="249631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281160" y="169164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14 veces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281160" y="237744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 el bloque de 120 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023360" y="3200400"/>
            <a:ext cx="3611880" cy="29260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51960" y="3383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Temperatura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251960" y="393192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Umbral 30 °C con reacción inmediata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818120" y="3200400"/>
            <a:ext cx="3822192" cy="29260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04672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Humedad ambiente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39319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Umbral 80 % HR, con promedio de 5 muestras antes de disparar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Arquitectura de software modular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645920"/>
            <a:ext cx="1655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models.py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dataclasses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23160" y="2331720"/>
            <a:ext cx="429768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52928" y="164592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962656" y="1645920"/>
            <a:ext cx="1655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config_loader.py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carga y valida TOML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27448" y="2331720"/>
            <a:ext cx="429768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7216" y="164592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266944" y="1645920"/>
            <a:ext cx="1655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hardware.py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abstracción GPIO / I²C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31736" y="2331720"/>
            <a:ext cx="429768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61504" y="164592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571232" y="1645920"/>
            <a:ext cx="1655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control.py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algoritmos de decisión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36024" y="2331720"/>
            <a:ext cx="429768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65792" y="1645920"/>
            <a:ext cx="187452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875520" y="1645920"/>
            <a:ext cx="1655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main.py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ciclo principal y orquestación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52928" y="4114800"/>
            <a:ext cx="187452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962656" y="4114800"/>
            <a:ext cx="1655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config.toml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archivo en disco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V="1">
            <a:off x="3790188" y="3017520"/>
            <a:ext cx="0" cy="109728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394960" y="4114800"/>
            <a:ext cx="329184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504688" y="4114800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web.py + index.html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Flask + Jinja2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 flipH="1">
            <a:off x="4727448" y="4709160"/>
            <a:ext cx="667512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8961120" y="4114800"/>
            <a:ext cx="2679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web.py no importa nada del resto del código: solo comparte config.toml en disco.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Configuración y abstracción de hardware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Configuración externalizada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Umbrales, calibraciones y parámetros de cultivo viven en config.toml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config_loader.py valida los valores al cargarlos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 recalibra o se cambia de cultivo sin tocar el código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99632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73952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Capa de abstracción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hardware.py concentra todo el acceso a GPIO e I²C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control.py decide sin conocer pines ni buses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Cambiar un sensor o un pin afecta a un solo módulo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Ciclo de control y riego seguro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87452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64592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Leer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sensores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23160" y="2286000"/>
            <a:ext cx="429768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52928" y="1645920"/>
            <a:ext cx="1874520" cy="128016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962656" y="164592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Filtrar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promedio de muestras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27448" y="2286000"/>
            <a:ext cx="429768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7216" y="1645920"/>
            <a:ext cx="187452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266944" y="164592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Decidir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control.py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31736" y="2286000"/>
            <a:ext cx="429768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61504" y="1645920"/>
            <a:ext cx="1874520" cy="1280160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571232" y="164592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Actuar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hardware.py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36024" y="2286000"/>
            <a:ext cx="429768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65792" y="1645920"/>
            <a:ext cx="187452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875520" y="1645920"/>
            <a:ext cx="1655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 Registrar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CSV y ThingSpeak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1091672" cy="2560320"/>
          </a:xfrm>
          <a:prstGeom prst="roundRect">
            <a:avLst>
              <a:gd name="adj" fmla="val 3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3749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Secuencia segura de riego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97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Enclavamiento mutuo (mutex): nunca riegan dos macetas a la vez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Evita pedirle a la bomba más caudal del que puede dar (228 L/h)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Despliegue con systemd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42900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645920"/>
            <a:ext cx="3209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indoor_main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ciclo de control y orquestación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70832" y="1645920"/>
            <a:ext cx="3429000" cy="173736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480560" y="1645920"/>
            <a:ext cx="3209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indoor_web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interfaz web Flask de configuración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93024" y="1645920"/>
            <a:ext cx="3429000" cy="1737360"/>
          </a:xfrm>
          <a:prstGeom prst="roundRect">
            <a:avLst>
              <a:gd name="adj" fmla="val 526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302752" y="1645920"/>
            <a:ext cx="3209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ngrok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túnel inverso para acceso remoto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91672" cy="237744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9776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Restart=always: arranque automático al encender y recuperación ante fallas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Registro local en CSV, independiente de la conexión a Internet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Telemetría a ThingSpeak para el historial en la nube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Interfaz web: configuración remota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7223760" cy="434340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g-ui_cfg" descr="ui_cf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7040880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486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Formulario de ajuste de parámetros (config.toml)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955280" y="1554480"/>
            <a:ext cx="3685032" cy="4343400"/>
          </a:xfrm>
          <a:prstGeom prst="roundRect">
            <a:avLst>
              <a:gd name="adj" fmla="val 24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183880" y="178308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Edita config.toml desde el navegador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Redirección tras guardar: una recarga no reenvía el formulario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Confirmación visual de que se guardó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Monitoreo remoto con ThingSpeak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36576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g-ui_g1" descr="ui_g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5257800" cy="29535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634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Humedad de suelo e intensidad de luz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99632" y="1554480"/>
            <a:ext cx="5440680" cy="365760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-ui_g2" descr="ui_g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645920"/>
            <a:ext cx="5257800" cy="29535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91072" y="46634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Temperatura y humedad ambiente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Gráficos históricos de ThingSpeak embebidos en la interfaz, accesibles desde cualquier lugar por el túnel inverso.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783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202,4 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consumo de potencia pico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783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0,202 kWh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 hora de operación a pico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2651760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55080" y="1783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6500 lux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medidos a 27 cm del panel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1645920"/>
            <a:ext cx="2587752" cy="14173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9720" y="178308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52,6 %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46888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humedad que dispara el riego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11091672" cy="27432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6118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Prototipo construido y funcionando con dos cultivos en paralelo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Sensores calibrados y tres lazos de control en operación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Control y monitoreo remoto operativos mediante ThingSpeak y ngrok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Conclusiones y trabajo futuro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Conclusiones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 logró un sistema integrado y autónomo de punta a punta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 arquitectura modular y la configuración externa facilitan recalibrar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 bomba resultó el límite hidráulico real del riego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99632" y="1554480"/>
            <a:ext cx="5440680" cy="4572000"/>
          </a:xfrm>
          <a:prstGeom prst="roundRect">
            <a:avLst>
              <a:gd name="adj" fmla="val 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73952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Trabajo futuro (propuesta)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Dimensionar la bomba según la demanda máxima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Medir el caudal real para cerrar el lazo de riego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Ensayos completos de ciclo hasta la cosecha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40080" y="182880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Gracias. ¿Preguntas?</a:t>
            </a:r>
            <a:endParaRPr lang="en-US" sz="32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640080" y="4343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Beierbach Rodríguez, Alejo Adrián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Ramírez, Valentín José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Ingeniería Electrónica · FCEFyN · Universidad Nacional de Córdoba</a:t>
            </a:r>
            <a:endParaRPr lang="en-US" sz="1500" dirty="0"/>
          </a:p>
        </p:txBody>
      </p:sp>
      <p:pic>
        <p:nvPicPr>
          <p:cNvPr id="4" name="img-proto_fin" descr="proto_f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548640"/>
            <a:ext cx="347472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CEFyN">
  <a:themeElements>
    <a:clrScheme name="FCEFyN">
      <a:dk1>
        <a:srgbClr val="1D1D1D"/>
      </a:dk1>
      <a:lt1>
        <a:srgbClr val="FFFFFF"/>
      </a:lt1>
      <a:dk2>
        <a:srgbClr val="1D4036"/>
      </a:dk2>
      <a:lt2>
        <a:srgbClr val="EFE4D8"/>
      </a:lt2>
      <a:accent1>
        <a:srgbClr val="1D4036"/>
      </a:accent1>
      <a:accent2>
        <a:srgbClr val="D38129"/>
      </a:accent2>
      <a:accent3>
        <a:srgbClr val="D88E77"/>
      </a:accent3>
      <a:accent4>
        <a:srgbClr val="52A8AF"/>
      </a:accent4>
      <a:accent5>
        <a:srgbClr val="6E8B4E"/>
      </a:accent5>
      <a:accent6>
        <a:srgbClr val="3A5F75"/>
      </a:accent6>
      <a:hlink>
        <a:srgbClr val="D38129"/>
      </a:hlink>
      <a:folHlink>
        <a:srgbClr val="D88E77"/>
      </a:folHlink>
    </a:clrScheme>
    <a:fontScheme name="FCEFyN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Prototipo de Monitoreo y Control de Cultivos para Granjas Inteligentes Urbanas</dc:title>
  <dc:subject>PptxGenJS Presentation</dc:subject>
  <dc:creator>Beierbach Rodríguez, A. A.; Ramírez, V. J.</dc:creator>
  <cp:lastModifiedBy>Beierbach Rodríguez, A. A.; Ramírez, V. J.</cp:lastModifiedBy>
  <cp:revision>1</cp:revision>
  <dcterms:created xsi:type="dcterms:W3CDTF">2026-10-12T00:51:44Z</dcterms:created>
  <dcterms:modified xsi:type="dcterms:W3CDTF">2026-10-12T00:51:44Z</dcterms:modified>
</cp:coreProperties>
</file>